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Inter"/>
      <p:regular r:id="rId19"/>
      <p:bold r:id="rId20"/>
      <p:italic r:id="rId21"/>
      <p:boldItalic r:id="rId22"/>
    </p:embeddedFont>
    <p:embeddedFont>
      <p:font typeface="Inter ExtraBold"/>
      <p:bold r:id="rId23"/>
      <p:boldItalic r:id="rId24"/>
    </p:embeddedFont>
    <p:embeddedFont>
      <p:font typeface="Roboto Mono"/>
      <p:regular r:id="rId25"/>
      <p:bold r:id="rId26"/>
      <p:italic r:id="rId27"/>
      <p:boldItalic r:id="rId28"/>
    </p:embeddedFont>
    <p:embeddedFont>
      <p:font typeface="Inter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InterExtraBold-boldItalic.fntdata"/><Relationship Id="rId23" Type="http://schemas.openxmlformats.org/officeDocument/2006/relationships/font" Target="fonts/InterExtra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italic.fntdata"/><Relationship Id="rId30" Type="http://schemas.openxmlformats.org/officeDocument/2006/relationships/font" Target="fonts/InterMedium-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Inter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nter-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e7cf68d7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e7cf68d7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6dc00fcd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76dc00fcd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6e7cf68d7d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6e7cf68d7d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e3027a68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e3027a68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e3027a6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7e3027a6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e3027a68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7e3027a6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e3027a68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e3027a68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e3027a68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7e3027a68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7e3027a68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7e3027a68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e7cf68d7d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e7cf68d7d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e7cf68d7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6e7cf68d7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9388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Automation of Weather-Based Sales and Staffing Decisions</a:t>
            </a:r>
            <a:endParaRPr sz="5800">
              <a:solidFill>
                <a:srgbClr val="1A1A1A"/>
              </a:solidFill>
              <a:latin typeface="Inter ExtraBold"/>
              <a:ea typeface="Inter ExtraBold"/>
              <a:cs typeface="Inter ExtraBold"/>
              <a:sym typeface="Inter ExtraBold"/>
            </a:endParaRPr>
          </a:p>
          <a:p>
            <a:pPr indent="0" lvl="0" marL="0" rtl="0" algn="l">
              <a:spcBef>
                <a:spcPts val="1000"/>
              </a:spcBef>
              <a:spcAft>
                <a:spcPts val="0"/>
              </a:spcAft>
              <a:buClr>
                <a:schemeClr val="dk1"/>
              </a:buClr>
              <a:buSzPts val="1100"/>
              <a:buFont typeface="Arial"/>
              <a:buNone/>
            </a:pPr>
            <a:r>
              <a:rPr lang="en" sz="2000">
                <a:solidFill>
                  <a:srgbClr val="1A1A1A"/>
                </a:solidFill>
                <a:latin typeface="Inter"/>
                <a:ea typeface="Inter"/>
                <a:cs typeface="Inter"/>
                <a:sym typeface="Inter"/>
              </a:rPr>
              <a:t>Joseph Boring</a:t>
            </a:r>
            <a:endParaRPr sz="60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 Project 5</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p29"/>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Problem</a:t>
            </a:r>
            <a:endParaRPr sz="4000">
              <a:solidFill>
                <a:srgbClr val="1A1A1A"/>
              </a:solidFill>
              <a:latin typeface="Inter ExtraBold"/>
              <a:ea typeface="Inter ExtraBold"/>
              <a:cs typeface="Inter ExtraBold"/>
              <a:sym typeface="Inter ExtraBold"/>
            </a:endParaRPr>
          </a:p>
        </p:txBody>
      </p:sp>
      <p:sp>
        <p:nvSpPr>
          <p:cNvPr id="90" name="Google Shape;90;p29"/>
          <p:cNvSpPr txBox="1"/>
          <p:nvPr>
            <p:ph idx="1" type="subTitle"/>
          </p:nvPr>
        </p:nvSpPr>
        <p:spPr>
          <a:xfrm>
            <a:off x="96875" y="1263450"/>
            <a:ext cx="8520600" cy="2616600"/>
          </a:xfrm>
          <a:prstGeom prst="rect">
            <a:avLst/>
          </a:prstGeom>
          <a:noFill/>
          <a:ln>
            <a:noFill/>
          </a:ln>
        </p:spPr>
        <p:txBody>
          <a:bodyPr anchorCtr="0" anchor="b" bIns="91425" lIns="91425" spcFirstLastPara="1" rIns="91425" wrap="square" tIns="91425">
            <a:noAutofit/>
          </a:bodyPr>
          <a:lstStyle/>
          <a:p>
            <a:pPr indent="-355600" lvl="0" marL="457200" rtl="0" algn="l">
              <a:lnSpc>
                <a:spcPct val="115000"/>
              </a:lnSpc>
              <a:spcBef>
                <a:spcPts val="1200"/>
              </a:spcBef>
              <a:spcAft>
                <a:spcPts val="0"/>
              </a:spcAft>
              <a:buClr>
                <a:srgbClr val="1A1A1A"/>
              </a:buClr>
              <a:buSzPts val="2000"/>
              <a:buFont typeface="Inter"/>
              <a:buChar char="●"/>
            </a:pPr>
            <a:r>
              <a:rPr lang="en" sz="2000">
                <a:solidFill>
                  <a:srgbClr val="1A1A1A"/>
                </a:solidFill>
                <a:latin typeface="Inter"/>
                <a:ea typeface="Inter"/>
                <a:cs typeface="Inter"/>
                <a:sym typeface="Inter"/>
              </a:rPr>
              <a:t>A beachside coffee and ice cream kiosk in Miami needs a way to quickly adapt its daily product and staffing plans to the city's volatile weather. The current manual process of checking forecasts is inefficient, leading to reactive decision-making, potential over/understaffing, and missed sales opportunities when conditions change unexpectedly.</a:t>
            </a:r>
            <a:endParaRPr sz="2000">
              <a:solidFill>
                <a:srgbClr val="1A1A1A"/>
              </a:solidFill>
              <a:latin typeface="Inter"/>
              <a:ea typeface="Inter"/>
              <a:cs typeface="Inter"/>
              <a:sym typeface="Inter"/>
            </a:endParaRPr>
          </a:p>
        </p:txBody>
      </p:sp>
      <p:sp>
        <p:nvSpPr>
          <p:cNvPr id="91" name="Google Shape;91;p29"/>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5" name="Shape 95"/>
        <p:cNvGrpSpPr/>
        <p:nvPr/>
      </p:nvGrpSpPr>
      <p:grpSpPr>
        <a:xfrm>
          <a:off x="0" y="0"/>
          <a:ext cx="0" cy="0"/>
          <a:chOff x="0" y="0"/>
          <a:chExt cx="0" cy="0"/>
        </a:xfrm>
      </p:grpSpPr>
      <p:sp>
        <p:nvSpPr>
          <p:cNvPr id="96" name="Google Shape;96;p30"/>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Solution</a:t>
            </a:r>
            <a:endParaRPr sz="4000">
              <a:solidFill>
                <a:srgbClr val="1A1A1A"/>
              </a:solidFill>
              <a:latin typeface="Inter ExtraBold"/>
              <a:ea typeface="Inter ExtraBold"/>
              <a:cs typeface="Inter ExtraBold"/>
              <a:sym typeface="Inter ExtraBold"/>
            </a:endParaRPr>
          </a:p>
        </p:txBody>
      </p:sp>
      <p:sp>
        <p:nvSpPr>
          <p:cNvPr id="97" name="Google Shape;97;p30"/>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355600" lvl="0" marL="457200" rtl="0" algn="l">
              <a:lnSpc>
                <a:spcPct val="115000"/>
              </a:lnSpc>
              <a:spcBef>
                <a:spcPts val="1200"/>
              </a:spcBef>
              <a:spcAft>
                <a:spcPts val="0"/>
              </a:spcAft>
              <a:buClr>
                <a:srgbClr val="1A1A1A"/>
              </a:buClr>
              <a:buSzPts val="2000"/>
              <a:buFont typeface="Inter"/>
              <a:buChar char="●"/>
            </a:pPr>
            <a:r>
              <a:rPr lang="en" sz="2000">
                <a:solidFill>
                  <a:srgbClr val="1A1A1A"/>
                </a:solidFill>
                <a:latin typeface="Inter"/>
                <a:ea typeface="Inter"/>
                <a:cs typeface="Inter"/>
                <a:sym typeface="Inter"/>
              </a:rPr>
              <a:t>I designed and built an intelligent automation workflow through Zapier that acts as a daily operations assistant. Every morning at 7 AM, the system automatically fetches the Miami forecast via a Webhook, uses a Google Gemini AI model to interpret the data, and generates a custom operational plan. This plan, which includes product focus, staffing suggestions, and tailored marketing messages, is then emailed directly to the kiosk manager, enabling proactive, data-driven decisions.</a:t>
            </a:r>
            <a:endParaRPr sz="2000">
              <a:solidFill>
                <a:srgbClr val="1A1A1A"/>
              </a:solidFill>
              <a:latin typeface="Inter"/>
              <a:ea typeface="Inter"/>
              <a:cs typeface="Inter"/>
              <a:sym typeface="Inter"/>
            </a:endParaRPr>
          </a:p>
        </p:txBody>
      </p:sp>
      <p:sp>
        <p:nvSpPr>
          <p:cNvPr id="98" name="Google Shape;98;p30"/>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2" name="Shape 102"/>
        <p:cNvGrpSpPr/>
        <p:nvPr/>
      </p:nvGrpSpPr>
      <p:grpSpPr>
        <a:xfrm>
          <a:off x="0" y="0"/>
          <a:ext cx="0" cy="0"/>
          <a:chOff x="0" y="0"/>
          <a:chExt cx="0" cy="0"/>
        </a:xfrm>
      </p:grpSpPr>
      <p:sp>
        <p:nvSpPr>
          <p:cNvPr id="103" name="Google Shape;103;p31"/>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Workflow diagram</a:t>
            </a:r>
            <a:endParaRPr sz="4000">
              <a:solidFill>
                <a:srgbClr val="1A1A1A"/>
              </a:solidFill>
              <a:latin typeface="Inter ExtraBold"/>
              <a:ea typeface="Inter ExtraBold"/>
              <a:cs typeface="Inter ExtraBold"/>
              <a:sym typeface="Inter ExtraBold"/>
            </a:endParaRPr>
          </a:p>
        </p:txBody>
      </p:sp>
      <p:sp>
        <p:nvSpPr>
          <p:cNvPr id="104" name="Google Shape;104;p31"/>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05" name="Google Shape;105;p31"/>
          <p:cNvPicPr preferRelativeResize="0"/>
          <p:nvPr/>
        </p:nvPicPr>
        <p:blipFill>
          <a:blip r:embed="rId3">
            <a:alphaModFix/>
          </a:blip>
          <a:stretch>
            <a:fillRect/>
          </a:stretch>
        </p:blipFill>
        <p:spPr>
          <a:xfrm>
            <a:off x="4951850" y="47200"/>
            <a:ext cx="3665625" cy="50242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9" name="Shape 109"/>
        <p:cNvGrpSpPr/>
        <p:nvPr/>
      </p:nvGrpSpPr>
      <p:grpSpPr>
        <a:xfrm>
          <a:off x="0" y="0"/>
          <a:ext cx="0" cy="0"/>
          <a:chOff x="0" y="0"/>
          <a:chExt cx="0" cy="0"/>
        </a:xfrm>
      </p:grpSpPr>
      <p:sp>
        <p:nvSpPr>
          <p:cNvPr id="110" name="Google Shape;110;p32"/>
          <p:cNvSpPr txBox="1"/>
          <p:nvPr>
            <p:ph type="ctrTitle"/>
          </p:nvPr>
        </p:nvSpPr>
        <p:spPr>
          <a:xfrm>
            <a:off x="96875" y="283725"/>
            <a:ext cx="2691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Webhook</a:t>
            </a:r>
            <a:endParaRPr sz="4000">
              <a:solidFill>
                <a:srgbClr val="1A1A1A"/>
              </a:solidFill>
              <a:latin typeface="Inter ExtraBold"/>
              <a:ea typeface="Inter ExtraBold"/>
              <a:cs typeface="Inter ExtraBold"/>
              <a:sym typeface="Inter ExtraBold"/>
            </a:endParaRPr>
          </a:p>
        </p:txBody>
      </p:sp>
      <p:sp>
        <p:nvSpPr>
          <p:cNvPr id="111" name="Google Shape;111;p32"/>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12" name="Google Shape;112;p32"/>
          <p:cNvPicPr preferRelativeResize="0"/>
          <p:nvPr/>
        </p:nvPicPr>
        <p:blipFill>
          <a:blip r:embed="rId3">
            <a:alphaModFix/>
          </a:blip>
          <a:stretch>
            <a:fillRect/>
          </a:stretch>
        </p:blipFill>
        <p:spPr>
          <a:xfrm>
            <a:off x="2263325" y="1945375"/>
            <a:ext cx="6248400" cy="2000250"/>
          </a:xfrm>
          <a:prstGeom prst="rect">
            <a:avLst/>
          </a:prstGeom>
          <a:noFill/>
          <a:ln>
            <a:noFill/>
          </a:ln>
        </p:spPr>
      </p:pic>
      <p:sp>
        <p:nvSpPr>
          <p:cNvPr id="113" name="Google Shape;113;p32"/>
          <p:cNvSpPr/>
          <p:nvPr/>
        </p:nvSpPr>
        <p:spPr>
          <a:xfrm>
            <a:off x="6381725" y="2196975"/>
            <a:ext cx="2040900" cy="14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32"/>
          <p:cNvSpPr txBox="1"/>
          <p:nvPr/>
        </p:nvSpPr>
        <p:spPr>
          <a:xfrm>
            <a:off x="6471750" y="2206975"/>
            <a:ext cx="1830900" cy="2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Censored</a:t>
            </a:r>
            <a:r>
              <a:rPr lang="en"/>
              <a:t> api</a:t>
            </a:r>
            <a:endParaRPr/>
          </a:p>
        </p:txBody>
      </p:sp>
      <p:sp>
        <p:nvSpPr>
          <p:cNvPr id="115" name="Google Shape;115;p32"/>
          <p:cNvSpPr/>
          <p:nvPr/>
        </p:nvSpPr>
        <p:spPr>
          <a:xfrm>
            <a:off x="4971100" y="3577575"/>
            <a:ext cx="2040900" cy="210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9" name="Shape 119"/>
        <p:cNvGrpSpPr/>
        <p:nvPr/>
      </p:nvGrpSpPr>
      <p:grpSpPr>
        <a:xfrm>
          <a:off x="0" y="0"/>
          <a:ext cx="0" cy="0"/>
          <a:chOff x="0" y="0"/>
          <a:chExt cx="0" cy="0"/>
        </a:xfrm>
      </p:grpSpPr>
      <p:sp>
        <p:nvSpPr>
          <p:cNvPr id="120" name="Google Shape;120;p33"/>
          <p:cNvSpPr txBox="1"/>
          <p:nvPr>
            <p:ph type="ctrTitle"/>
          </p:nvPr>
        </p:nvSpPr>
        <p:spPr>
          <a:xfrm>
            <a:off x="96875" y="283725"/>
            <a:ext cx="2691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Prompt 1/2</a:t>
            </a:r>
            <a:endParaRPr sz="4000">
              <a:solidFill>
                <a:srgbClr val="1A1A1A"/>
              </a:solidFill>
              <a:latin typeface="Inter ExtraBold"/>
              <a:ea typeface="Inter ExtraBold"/>
              <a:cs typeface="Inter ExtraBold"/>
              <a:sym typeface="Inter ExtraBold"/>
            </a:endParaRPr>
          </a:p>
        </p:txBody>
      </p:sp>
      <p:sp>
        <p:nvSpPr>
          <p:cNvPr id="121" name="Google Shape;121;p33"/>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22" name="Google Shape;122;p33"/>
          <p:cNvPicPr preferRelativeResize="0"/>
          <p:nvPr/>
        </p:nvPicPr>
        <p:blipFill>
          <a:blip r:embed="rId3">
            <a:alphaModFix/>
          </a:blip>
          <a:stretch>
            <a:fillRect/>
          </a:stretch>
        </p:blipFill>
        <p:spPr>
          <a:xfrm>
            <a:off x="2788239" y="0"/>
            <a:ext cx="6355772"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6" name="Shape 126"/>
        <p:cNvGrpSpPr/>
        <p:nvPr/>
      </p:nvGrpSpPr>
      <p:grpSpPr>
        <a:xfrm>
          <a:off x="0" y="0"/>
          <a:ext cx="0" cy="0"/>
          <a:chOff x="0" y="0"/>
          <a:chExt cx="0" cy="0"/>
        </a:xfrm>
      </p:grpSpPr>
      <p:sp>
        <p:nvSpPr>
          <p:cNvPr id="127" name="Google Shape;127;p34"/>
          <p:cNvSpPr txBox="1"/>
          <p:nvPr>
            <p:ph type="ctrTitle"/>
          </p:nvPr>
        </p:nvSpPr>
        <p:spPr>
          <a:xfrm>
            <a:off x="96875" y="283725"/>
            <a:ext cx="26913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Prompt 2/2</a:t>
            </a:r>
            <a:endParaRPr sz="4000">
              <a:solidFill>
                <a:srgbClr val="1A1A1A"/>
              </a:solidFill>
              <a:latin typeface="Inter ExtraBold"/>
              <a:ea typeface="Inter ExtraBold"/>
              <a:cs typeface="Inter ExtraBold"/>
              <a:sym typeface="Inter ExtraBold"/>
            </a:endParaRPr>
          </a:p>
        </p:txBody>
      </p:sp>
      <p:sp>
        <p:nvSpPr>
          <p:cNvPr id="128" name="Google Shape;128;p34"/>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29" name="Google Shape;129;p34"/>
          <p:cNvPicPr preferRelativeResize="0"/>
          <p:nvPr/>
        </p:nvPicPr>
        <p:blipFill>
          <a:blip r:embed="rId3">
            <a:alphaModFix/>
          </a:blip>
          <a:stretch>
            <a:fillRect/>
          </a:stretch>
        </p:blipFill>
        <p:spPr>
          <a:xfrm>
            <a:off x="1606588" y="1793000"/>
            <a:ext cx="6677025" cy="1876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3" name="Shape 133"/>
        <p:cNvGrpSpPr/>
        <p:nvPr/>
      </p:nvGrpSpPr>
      <p:grpSpPr>
        <a:xfrm>
          <a:off x="0" y="0"/>
          <a:ext cx="0" cy="0"/>
          <a:chOff x="0" y="0"/>
          <a:chExt cx="0" cy="0"/>
        </a:xfrm>
      </p:grpSpPr>
      <p:sp>
        <p:nvSpPr>
          <p:cNvPr id="134" name="Google Shape;134;p35"/>
          <p:cNvSpPr txBox="1"/>
          <p:nvPr>
            <p:ph type="ctrTitle"/>
          </p:nvPr>
        </p:nvSpPr>
        <p:spPr>
          <a:xfrm>
            <a:off x="96875" y="283725"/>
            <a:ext cx="6024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Conditional Formating</a:t>
            </a:r>
            <a:br>
              <a:rPr lang="en" sz="4000">
                <a:solidFill>
                  <a:srgbClr val="1A1A1A"/>
                </a:solidFill>
                <a:latin typeface="Inter ExtraBold"/>
                <a:ea typeface="Inter ExtraBold"/>
                <a:cs typeface="Inter ExtraBold"/>
                <a:sym typeface="Inter ExtraBold"/>
              </a:rPr>
            </a:br>
            <a:r>
              <a:rPr lang="en" sz="4000">
                <a:solidFill>
                  <a:srgbClr val="1A1A1A"/>
                </a:solidFill>
                <a:latin typeface="Inter ExtraBold"/>
                <a:ea typeface="Inter ExtraBold"/>
                <a:cs typeface="Inter ExtraBold"/>
                <a:sym typeface="Inter ExtraBold"/>
              </a:rPr>
              <a:t>1/2</a:t>
            </a:r>
            <a:endParaRPr sz="4000">
              <a:solidFill>
                <a:srgbClr val="1A1A1A"/>
              </a:solidFill>
              <a:latin typeface="Inter ExtraBold"/>
              <a:ea typeface="Inter ExtraBold"/>
              <a:cs typeface="Inter ExtraBold"/>
              <a:sym typeface="Inter ExtraBold"/>
            </a:endParaRPr>
          </a:p>
        </p:txBody>
      </p:sp>
      <p:sp>
        <p:nvSpPr>
          <p:cNvPr id="135" name="Google Shape;135;p35"/>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36" name="Google Shape;136;p35"/>
          <p:cNvPicPr preferRelativeResize="0"/>
          <p:nvPr/>
        </p:nvPicPr>
        <p:blipFill>
          <a:blip r:embed="rId3">
            <a:alphaModFix/>
          </a:blip>
          <a:stretch>
            <a:fillRect/>
          </a:stretch>
        </p:blipFill>
        <p:spPr>
          <a:xfrm>
            <a:off x="3113675" y="1006450"/>
            <a:ext cx="5939324" cy="4061774"/>
          </a:xfrm>
          <a:prstGeom prst="rect">
            <a:avLst/>
          </a:prstGeom>
          <a:noFill/>
          <a:ln>
            <a:noFill/>
          </a:ln>
        </p:spPr>
      </p:pic>
      <p:sp>
        <p:nvSpPr>
          <p:cNvPr id="137" name="Google Shape;137;p35"/>
          <p:cNvSpPr txBox="1"/>
          <p:nvPr/>
        </p:nvSpPr>
        <p:spPr>
          <a:xfrm>
            <a:off x="1512875" y="2206975"/>
            <a:ext cx="1600800" cy="15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t>Path A</a:t>
            </a:r>
            <a:r>
              <a:rPr b="1" lang="en" sz="2300"/>
              <a:t> Severe Weather:</a:t>
            </a:r>
            <a:endParaRPr b="1"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1" name="Shape 141"/>
        <p:cNvGrpSpPr/>
        <p:nvPr/>
      </p:nvGrpSpPr>
      <p:grpSpPr>
        <a:xfrm>
          <a:off x="0" y="0"/>
          <a:ext cx="0" cy="0"/>
          <a:chOff x="0" y="0"/>
          <a:chExt cx="0" cy="0"/>
        </a:xfrm>
      </p:grpSpPr>
      <p:sp>
        <p:nvSpPr>
          <p:cNvPr id="142" name="Google Shape;142;p36"/>
          <p:cNvSpPr txBox="1"/>
          <p:nvPr>
            <p:ph type="ctrTitle"/>
          </p:nvPr>
        </p:nvSpPr>
        <p:spPr>
          <a:xfrm>
            <a:off x="96875" y="283725"/>
            <a:ext cx="6024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Conditional Formating</a:t>
            </a:r>
            <a:br>
              <a:rPr lang="en" sz="4000">
                <a:solidFill>
                  <a:srgbClr val="1A1A1A"/>
                </a:solidFill>
                <a:latin typeface="Inter ExtraBold"/>
                <a:ea typeface="Inter ExtraBold"/>
                <a:cs typeface="Inter ExtraBold"/>
                <a:sym typeface="Inter ExtraBold"/>
              </a:rPr>
            </a:br>
            <a:r>
              <a:rPr lang="en" sz="4000">
                <a:solidFill>
                  <a:srgbClr val="1A1A1A"/>
                </a:solidFill>
                <a:latin typeface="Inter ExtraBold"/>
                <a:ea typeface="Inter ExtraBold"/>
                <a:cs typeface="Inter ExtraBold"/>
                <a:sym typeface="Inter ExtraBold"/>
              </a:rPr>
              <a:t>2/2</a:t>
            </a:r>
            <a:endParaRPr sz="4000">
              <a:solidFill>
                <a:srgbClr val="1A1A1A"/>
              </a:solidFill>
              <a:latin typeface="Inter ExtraBold"/>
              <a:ea typeface="Inter ExtraBold"/>
              <a:cs typeface="Inter ExtraBold"/>
              <a:sym typeface="Inter ExtraBold"/>
            </a:endParaRPr>
          </a:p>
        </p:txBody>
      </p:sp>
      <p:sp>
        <p:nvSpPr>
          <p:cNvPr id="143" name="Google Shape;143;p36"/>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
        <p:nvSpPr>
          <p:cNvPr id="144" name="Google Shape;144;p36"/>
          <p:cNvSpPr txBox="1"/>
          <p:nvPr/>
        </p:nvSpPr>
        <p:spPr>
          <a:xfrm>
            <a:off x="1512875" y="2206975"/>
            <a:ext cx="1600800" cy="15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t>Path B</a:t>
            </a:r>
            <a:r>
              <a:rPr b="1" lang="en" sz="2300"/>
              <a:t> Default:</a:t>
            </a:r>
            <a:endParaRPr b="1" sz="2300"/>
          </a:p>
        </p:txBody>
      </p:sp>
      <p:pic>
        <p:nvPicPr>
          <p:cNvPr id="145" name="Google Shape;145;p36"/>
          <p:cNvPicPr preferRelativeResize="0"/>
          <p:nvPr/>
        </p:nvPicPr>
        <p:blipFill>
          <a:blip r:embed="rId3">
            <a:alphaModFix/>
          </a:blip>
          <a:stretch>
            <a:fillRect/>
          </a:stretch>
        </p:blipFill>
        <p:spPr>
          <a:xfrm>
            <a:off x="2915925" y="2147875"/>
            <a:ext cx="3505200" cy="971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9" name="Shape 149"/>
        <p:cNvGrpSpPr/>
        <p:nvPr/>
      </p:nvGrpSpPr>
      <p:grpSpPr>
        <a:xfrm>
          <a:off x="0" y="0"/>
          <a:ext cx="0" cy="0"/>
          <a:chOff x="0" y="0"/>
          <a:chExt cx="0" cy="0"/>
        </a:xfrm>
      </p:grpSpPr>
      <p:sp>
        <p:nvSpPr>
          <p:cNvPr id="150" name="Google Shape;150;p37"/>
          <p:cNvSpPr txBox="1"/>
          <p:nvPr>
            <p:ph type="ctrTitle"/>
          </p:nvPr>
        </p:nvSpPr>
        <p:spPr>
          <a:xfrm>
            <a:off x="96875" y="283725"/>
            <a:ext cx="3333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Output Result 1/2</a:t>
            </a:r>
            <a:endParaRPr sz="4000">
              <a:solidFill>
                <a:srgbClr val="1A1A1A"/>
              </a:solidFill>
              <a:latin typeface="Inter ExtraBold"/>
              <a:ea typeface="Inter ExtraBold"/>
              <a:cs typeface="Inter ExtraBold"/>
              <a:sym typeface="Inter ExtraBold"/>
            </a:endParaRPr>
          </a:p>
        </p:txBody>
      </p:sp>
      <p:sp>
        <p:nvSpPr>
          <p:cNvPr id="151" name="Google Shape;151;p37"/>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pic>
        <p:nvPicPr>
          <p:cNvPr id="152" name="Google Shape;152;p37"/>
          <p:cNvPicPr preferRelativeResize="0"/>
          <p:nvPr/>
        </p:nvPicPr>
        <p:blipFill>
          <a:blip r:embed="rId3">
            <a:alphaModFix/>
          </a:blip>
          <a:stretch>
            <a:fillRect/>
          </a:stretch>
        </p:blipFill>
        <p:spPr>
          <a:xfrm>
            <a:off x="3501797" y="66025"/>
            <a:ext cx="5343626" cy="4925075"/>
          </a:xfrm>
          <a:prstGeom prst="rect">
            <a:avLst/>
          </a:prstGeom>
          <a:noFill/>
          <a:ln>
            <a:noFill/>
          </a:ln>
        </p:spPr>
      </p:pic>
      <p:sp>
        <p:nvSpPr>
          <p:cNvPr id="153" name="Google Shape;153;p37"/>
          <p:cNvSpPr txBox="1"/>
          <p:nvPr/>
        </p:nvSpPr>
        <p:spPr>
          <a:xfrm>
            <a:off x="1512875" y="2206975"/>
            <a:ext cx="1600800" cy="15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t>Path A</a:t>
            </a:r>
            <a:r>
              <a:rPr b="1" lang="en" sz="2300"/>
              <a:t> Severe Weather:</a:t>
            </a:r>
            <a:endParaRPr b="1" sz="2300"/>
          </a:p>
        </p:txBody>
      </p:sp>
      <p:sp>
        <p:nvSpPr>
          <p:cNvPr id="154" name="Google Shape;154;p37"/>
          <p:cNvSpPr txBox="1"/>
          <p:nvPr/>
        </p:nvSpPr>
        <p:spPr>
          <a:xfrm>
            <a:off x="1659650" y="3507550"/>
            <a:ext cx="1400700" cy="9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**Email Label as “Important”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58" name="Shape 158"/>
        <p:cNvGrpSpPr/>
        <p:nvPr/>
      </p:nvGrpSpPr>
      <p:grpSpPr>
        <a:xfrm>
          <a:off x="0" y="0"/>
          <a:ext cx="0" cy="0"/>
          <a:chOff x="0" y="0"/>
          <a:chExt cx="0" cy="0"/>
        </a:xfrm>
      </p:grpSpPr>
      <p:sp>
        <p:nvSpPr>
          <p:cNvPr id="159" name="Google Shape;159;p38"/>
          <p:cNvSpPr txBox="1"/>
          <p:nvPr>
            <p:ph type="ctrTitle"/>
          </p:nvPr>
        </p:nvSpPr>
        <p:spPr>
          <a:xfrm>
            <a:off x="96875" y="283725"/>
            <a:ext cx="3333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The Output Result 2/2</a:t>
            </a:r>
            <a:endParaRPr sz="4000">
              <a:solidFill>
                <a:srgbClr val="1A1A1A"/>
              </a:solidFill>
              <a:latin typeface="Inter ExtraBold"/>
              <a:ea typeface="Inter ExtraBold"/>
              <a:cs typeface="Inter ExtraBold"/>
              <a:sym typeface="Inter ExtraBold"/>
            </a:endParaRPr>
          </a:p>
        </p:txBody>
      </p:sp>
      <p:sp>
        <p:nvSpPr>
          <p:cNvPr id="160" name="Google Shape;160;p38"/>
          <p:cNvSpPr txBox="1"/>
          <p:nvPr/>
        </p:nvSpPr>
        <p:spPr>
          <a:xfrm>
            <a:off x="247175" y="1331300"/>
            <a:ext cx="43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highlight>
                <a:srgbClr val="FF9900"/>
              </a:highlight>
            </a:endParaRPr>
          </a:p>
        </p:txBody>
      </p:sp>
      <p:sp>
        <p:nvSpPr>
          <p:cNvPr id="161" name="Google Shape;161;p38"/>
          <p:cNvSpPr txBox="1"/>
          <p:nvPr/>
        </p:nvSpPr>
        <p:spPr>
          <a:xfrm>
            <a:off x="1512875" y="2206975"/>
            <a:ext cx="1600800" cy="15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t>Path B</a:t>
            </a:r>
            <a:r>
              <a:rPr b="1" lang="en" sz="2300"/>
              <a:t> Default:</a:t>
            </a:r>
            <a:endParaRPr b="1" sz="2300"/>
          </a:p>
        </p:txBody>
      </p:sp>
      <p:pic>
        <p:nvPicPr>
          <p:cNvPr id="162" name="Google Shape;162;p38"/>
          <p:cNvPicPr preferRelativeResize="0"/>
          <p:nvPr/>
        </p:nvPicPr>
        <p:blipFill>
          <a:blip r:embed="rId3">
            <a:alphaModFix/>
          </a:blip>
          <a:stretch>
            <a:fillRect/>
          </a:stretch>
        </p:blipFill>
        <p:spPr>
          <a:xfrm>
            <a:off x="3501225" y="0"/>
            <a:ext cx="470324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66" name="Shape 166"/>
        <p:cNvGrpSpPr/>
        <p:nvPr/>
      </p:nvGrpSpPr>
      <p:grpSpPr>
        <a:xfrm>
          <a:off x="0" y="0"/>
          <a:ext cx="0" cy="0"/>
          <a:chOff x="0" y="0"/>
          <a:chExt cx="0" cy="0"/>
        </a:xfrm>
      </p:grpSpPr>
      <p:sp>
        <p:nvSpPr>
          <p:cNvPr id="167" name="Google Shape;167;p39"/>
          <p:cNvSpPr txBox="1"/>
          <p:nvPr>
            <p:ph type="ctrTitle"/>
          </p:nvPr>
        </p:nvSpPr>
        <p:spPr>
          <a:xfrm>
            <a:off x="96875" y="3487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Benefits</a:t>
            </a:r>
            <a:endParaRPr sz="4000">
              <a:solidFill>
                <a:srgbClr val="1A1A1A"/>
              </a:solidFill>
              <a:latin typeface="Inter ExtraBold"/>
              <a:ea typeface="Inter ExtraBold"/>
              <a:cs typeface="Inter ExtraBold"/>
              <a:sym typeface="Inter ExtraBold"/>
            </a:endParaRPr>
          </a:p>
        </p:txBody>
      </p:sp>
      <p:sp>
        <p:nvSpPr>
          <p:cNvPr id="168" name="Google Shape;168;p39"/>
          <p:cNvSpPr txBox="1"/>
          <p:nvPr/>
        </p:nvSpPr>
        <p:spPr>
          <a:xfrm>
            <a:off x="2584775" y="348775"/>
            <a:ext cx="6032700" cy="10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This automated system delivers tangible business value by transforming a manual task into a strategic asset.</a:t>
            </a:r>
            <a:endParaRPr b="1" sz="1600"/>
          </a:p>
        </p:txBody>
      </p:sp>
      <p:sp>
        <p:nvSpPr>
          <p:cNvPr id="169" name="Google Shape;169;p39"/>
          <p:cNvSpPr txBox="1"/>
          <p:nvPr/>
        </p:nvSpPr>
        <p:spPr>
          <a:xfrm>
            <a:off x="268025" y="1446625"/>
            <a:ext cx="8178300" cy="3421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b="1" lang="en" sz="1600">
                <a:solidFill>
                  <a:schemeClr val="dk1"/>
                </a:solidFill>
              </a:rPr>
              <a:t>Increased Efficiency:</a:t>
            </a:r>
            <a:r>
              <a:rPr lang="en" sz="1600">
                <a:solidFill>
                  <a:schemeClr val="dk1"/>
                </a:solidFill>
              </a:rPr>
              <a:t> Saves the manager valuable time every morning by eliminating manual forecast checks and analysis.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Optimized Sales:</a:t>
            </a:r>
            <a:r>
              <a:rPr lang="en" sz="1600">
                <a:solidFill>
                  <a:schemeClr val="dk1"/>
                </a:solidFill>
              </a:rPr>
              <a:t> Aligns product focus and promotions directly with weather conditions, maximizing revenue opportunities (e.g., promoting iced coffee on hot days).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Reduced Labor Costs:</a:t>
            </a:r>
            <a:r>
              <a:rPr lang="en" sz="1600">
                <a:solidFill>
                  <a:schemeClr val="dk1"/>
                </a:solidFill>
              </a:rPr>
              <a:t> Provides data-driven staffing suggestions to prevent overstaffing on slow days and ensure adequate coverage during unexpected rushes.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Proactive Risk Management:</a:t>
            </a:r>
            <a:r>
              <a:rPr lang="en" sz="1600">
                <a:solidFill>
                  <a:schemeClr val="dk1"/>
                </a:solidFill>
              </a:rPr>
              <a:t> The severe weather alert system gives the manager advance notice to take necessary precautions, protecting assets and ensuring safety.</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3" name="Shape 173"/>
        <p:cNvGrpSpPr/>
        <p:nvPr/>
      </p:nvGrpSpPr>
      <p:grpSpPr>
        <a:xfrm>
          <a:off x="0" y="0"/>
          <a:ext cx="0" cy="0"/>
          <a:chOff x="0" y="0"/>
          <a:chExt cx="0" cy="0"/>
        </a:xfrm>
      </p:grpSpPr>
      <p:pic>
        <p:nvPicPr>
          <p:cNvPr id="174" name="Google Shape;174;p4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5" name="Google Shape;175;p40"/>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Challenges &amp; improvements</a:t>
            </a:r>
            <a:endParaRPr sz="4000">
              <a:solidFill>
                <a:srgbClr val="1A1A1A"/>
              </a:solidFill>
              <a:latin typeface="Inter ExtraBold"/>
              <a:ea typeface="Inter ExtraBold"/>
              <a:cs typeface="Inter ExtraBold"/>
              <a:sym typeface="Inter ExtraBold"/>
            </a:endParaRPr>
          </a:p>
        </p:txBody>
      </p:sp>
      <p:sp>
        <p:nvSpPr>
          <p:cNvPr id="176" name="Google Shape;176;p40"/>
          <p:cNvSpPr txBox="1"/>
          <p:nvPr>
            <p:ph idx="1" type="subTitle"/>
          </p:nvPr>
        </p:nvSpPr>
        <p:spPr>
          <a:xfrm>
            <a:off x="96875" y="2070200"/>
            <a:ext cx="8856000" cy="2661000"/>
          </a:xfrm>
          <a:prstGeom prst="rect">
            <a:avLst/>
          </a:prstGeom>
          <a:noFill/>
          <a:ln>
            <a:noFill/>
          </a:ln>
        </p:spPr>
        <p:txBody>
          <a:bodyPr anchorCtr="0" anchor="b" bIns="91425" lIns="91425" spcFirstLastPara="1" rIns="91425" wrap="square" tIns="91425">
            <a:noAutofit/>
          </a:bodyPr>
          <a:lstStyle/>
          <a:p>
            <a:pPr indent="-298450" lvl="0" marL="457200" rtl="0" algn="l">
              <a:spcBef>
                <a:spcPts val="0"/>
              </a:spcBef>
              <a:spcAft>
                <a:spcPts val="0"/>
              </a:spcAft>
              <a:buSzPts val="1100"/>
              <a:buChar char="●"/>
            </a:pPr>
            <a:r>
              <a:rPr b="1" lang="en">
                <a:solidFill>
                  <a:schemeClr val="dk1"/>
                </a:solidFill>
              </a:rPr>
              <a:t>Challenge &amp; Learning:</a:t>
            </a:r>
            <a:r>
              <a:rPr lang="en">
                <a:solidFill>
                  <a:schemeClr val="dk1"/>
                </a:solidFill>
              </a:rPr>
              <a:t> A key challenge was ensuring the reliability of the API's data format. Initially, the temperature was returned in Kelvin, requiring a debugging process to correct the </a:t>
            </a:r>
            <a:r>
              <a:rPr lang="en">
                <a:solidFill>
                  <a:srgbClr val="188038"/>
                </a:solidFill>
                <a:latin typeface="Roboto Mono"/>
                <a:ea typeface="Roboto Mono"/>
                <a:cs typeface="Roboto Mono"/>
                <a:sym typeface="Roboto Mono"/>
              </a:rPr>
              <a:t>units</a:t>
            </a:r>
            <a:r>
              <a:rPr lang="en">
                <a:solidFill>
                  <a:schemeClr val="dk1"/>
                </a:solidFill>
              </a:rPr>
              <a:t> parameter in the API call. This reinforced the importance of meticulous configuration and step-by-step testing.</a:t>
            </a:r>
            <a:endParaRPr>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What Worked:</a:t>
            </a:r>
            <a:r>
              <a:rPr lang="en">
                <a:solidFill>
                  <a:schemeClr val="dk1"/>
                </a:solidFill>
              </a:rPr>
              <a:t> The structured prompt designed for the Gemini AI model was highly effective. By providing clear context, specific instructions, and a defined output format (Markdown), the AI consistently delivered accurate, well-organized, and immediately usable operational plans. This confirmed the value of precise instructions when working with LLMs.</a:t>
            </a:r>
            <a:endParaRPr sz="1900">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Future Improvement:</a:t>
            </a:r>
            <a:r>
              <a:rPr lang="en">
                <a:solidFill>
                  <a:schemeClr val="dk1"/>
                </a:solidFill>
              </a:rPr>
              <a:t> If given more time, I would enhance this workflow by integrating it with the kiosk's POS system. This would allow the AI to not only consider the weather but also analyze historical sales data relative to sales trends, leading to even more precise and profitable product and inventory recommendations.</a:t>
            </a:r>
            <a:endParaRPr sz="2300">
              <a:solidFill>
                <a:srgbClr val="1A1A1A"/>
              </a:solidFill>
              <a:latin typeface="Inter"/>
              <a:ea typeface="Inter"/>
              <a:cs typeface="Inter"/>
              <a:sym typeface="Inter"/>
            </a:endParaRPr>
          </a:p>
        </p:txBody>
      </p:sp>
      <p:sp>
        <p:nvSpPr>
          <p:cNvPr id="177" name="Google Shape;177;p40"/>
          <p:cNvSpPr txBox="1"/>
          <p:nvPr/>
        </p:nvSpPr>
        <p:spPr>
          <a:xfrm>
            <a:off x="247175" y="1331300"/>
            <a:ext cx="437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FF9900"/>
                </a:highlight>
              </a:rPr>
              <a:t>What worked well and what you’d improve if you had more time or tools</a:t>
            </a:r>
            <a:endParaRPr sz="1800">
              <a:solidFill>
                <a:schemeClr val="dk1"/>
              </a:solidFill>
              <a:highlight>
                <a:srgbClr val="FF9900"/>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